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asao_uf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697" y="502920"/>
            <a:ext cx="712299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627632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A646E"/>
                </a:solidFill>
                <a:latin typeface="Calibri"/>
              </a:rPr>
              <a:t>UNIVERSIDADE FEDERAL DA PARAÍBA — CCSA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</a:pPr>
            <a:r>
              <a:rPr sz="1200" b="0" i="0">
                <a:solidFill>
                  <a:srgbClr val="5A646E"/>
                </a:solidFill>
                <a:latin typeface="Calibri"/>
              </a:rPr>
              <a:t>Bacharelado em Ciência de Dados para Negócios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487168"/>
            <a:ext cx="110578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 b="1" i="0">
                <a:solidFill>
                  <a:srgbClr val="0072B2"/>
                </a:solidFill>
                <a:latin typeface="Calibri"/>
              </a:rPr>
              <a:t>Previsão de Rebaixamento no</a:t>
            </a:r>
          </a:p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3400" b="1" i="0">
                <a:solidFill>
                  <a:srgbClr val="0072B2"/>
                </a:solidFill>
                <a:latin typeface="Calibri"/>
              </a:rPr>
              <a:t>Campeonato Brasileiro Série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822191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5A646E"/>
                </a:solidFill>
                <a:latin typeface="Calibri"/>
              </a:rPr>
              <a:t>Uma comparação de modelos de </a:t>
            </a:r>
            <a:r>
              <a:rPr sz="1500" b="0" i="1">
                <a:solidFill>
                  <a:srgbClr val="5A646E"/>
                </a:solidFill>
                <a:latin typeface="Calibri"/>
              </a:rPr>
              <a:t>Machine Learning</a:t>
            </a:r>
            <a:r>
              <a:rPr sz="1500" b="0" i="0">
                <a:solidFill>
                  <a:srgbClr val="5A646E"/>
                </a:solidFill>
                <a:latin typeface="Calibri"/>
              </a:rPr>
              <a:t> com validação </a:t>
            </a:r>
            <a:r>
              <a:rPr sz="1500" b="0" i="1">
                <a:solidFill>
                  <a:srgbClr val="5A646E"/>
                </a:solidFill>
                <a:latin typeface="Calibri"/>
              </a:rPr>
              <a:t>walk-forward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846320"/>
            <a:ext cx="110578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262B30"/>
                </a:solidFill>
                <a:latin typeface="Calibri"/>
              </a:rPr>
              <a:t>Leonardo Feitosa Barroso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sz="1200" b="0" i="0">
                <a:solidFill>
                  <a:srgbClr val="5A646E"/>
                </a:solidFill>
                <a:latin typeface="Calibri"/>
              </a:rPr>
              <a:t>Orientador: Prof. Dr. Hilton Martins de Brito Ramalho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A646E"/>
                </a:solidFill>
                <a:latin typeface="Calibri"/>
              </a:rPr>
              <a:t>João Pessoa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72B2"/>
                </a:solidFill>
                <a:latin typeface="Calibri"/>
              </a:rPr>
              <a:t>Roteiro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BFD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Previsão de rebaixamento — Brasileirão Série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4607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2/23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48840"/>
            <a:ext cx="49377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0072B2"/>
                </a:solidFill>
                <a:latin typeface="Calibri"/>
              </a:rPr>
              <a:t>1   </a:t>
            </a:r>
            <a:r>
              <a:rPr sz="1800" b="0" i="0">
                <a:solidFill>
                  <a:srgbClr val="262B30"/>
                </a:solidFill>
                <a:latin typeface="Calibri"/>
              </a:rPr>
              <a:t>O problema e a pergunta</a:t>
            </a:r>
          </a:p>
          <a:p>
            <a:pPr algn="l">
              <a:lnSpc>
                <a:spcPct val="130000"/>
              </a:lnSpc>
              <a:spcBef>
                <a:spcPts val="1600"/>
              </a:spcBef>
            </a:pPr>
            <a:r>
              <a:rPr sz="2000" b="1" i="0">
                <a:solidFill>
                  <a:srgbClr val="0072B2"/>
                </a:solidFill>
                <a:latin typeface="Calibri"/>
              </a:rPr>
              <a:t>2   </a:t>
            </a:r>
            <a:r>
              <a:rPr sz="1800" b="0" i="0">
                <a:solidFill>
                  <a:srgbClr val="262B30"/>
                </a:solidFill>
                <a:latin typeface="Calibri"/>
              </a:rPr>
              <a:t>Dados e método</a:t>
            </a:r>
          </a:p>
          <a:p>
            <a:pPr algn="l">
              <a:lnSpc>
                <a:spcPct val="130000"/>
              </a:lnSpc>
              <a:spcBef>
                <a:spcPts val="1600"/>
              </a:spcBef>
            </a:pPr>
            <a:r>
              <a:rPr sz="2000" b="1" i="0">
                <a:solidFill>
                  <a:srgbClr val="0072B2"/>
                </a:solidFill>
                <a:latin typeface="Calibri"/>
              </a:rPr>
              <a:t>3   </a:t>
            </a:r>
            <a:r>
              <a:rPr sz="1800" b="0" i="0">
                <a:solidFill>
                  <a:srgbClr val="262B30"/>
                </a:solidFill>
                <a:latin typeface="Calibri"/>
              </a:rPr>
              <a:t>Resultados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0528" y="2148840"/>
            <a:ext cx="49377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0072B2"/>
                </a:solidFill>
                <a:latin typeface="Calibri"/>
              </a:rPr>
              <a:t>4   </a:t>
            </a:r>
            <a:r>
              <a:rPr sz="1800" b="0" i="0">
                <a:solidFill>
                  <a:srgbClr val="262B30"/>
                </a:solidFill>
                <a:latin typeface="Calibri"/>
              </a:rPr>
              <a:t>A prova real: 2025</a:t>
            </a:r>
          </a:p>
          <a:p>
            <a:pPr algn="l">
              <a:lnSpc>
                <a:spcPct val="130000"/>
              </a:lnSpc>
              <a:spcBef>
                <a:spcPts val="1600"/>
              </a:spcBef>
            </a:pPr>
            <a:r>
              <a:rPr sz="2000" b="1" i="0">
                <a:solidFill>
                  <a:srgbClr val="0072B2"/>
                </a:solidFill>
                <a:latin typeface="Calibri"/>
              </a:rPr>
              <a:t>5   </a:t>
            </a:r>
            <a:r>
              <a:rPr sz="1800" b="0" i="0">
                <a:solidFill>
                  <a:srgbClr val="262B30"/>
                </a:solidFill>
                <a:latin typeface="Calibri"/>
              </a:rPr>
              <a:t>Considerações finais</a:t>
            </a:r>
          </a:p>
          <a:p>
            <a:pPr algn="l">
              <a:lnSpc>
                <a:spcPct val="130000"/>
              </a:lnSpc>
              <a:spcBef>
                <a:spcPts val="1600"/>
              </a:spcBef>
            </a:pPr>
            <a:r>
              <a:rPr sz="2000" b="1" i="0">
                <a:solidFill>
                  <a:srgbClr val="D55E00"/>
                </a:solidFill>
                <a:latin typeface="Calibri"/>
              </a:rPr>
              <a:t>6   </a:t>
            </a:r>
            <a:r>
              <a:rPr sz="1800" b="1" i="0">
                <a:solidFill>
                  <a:srgbClr val="262B30"/>
                </a:solidFill>
                <a:latin typeface="Calibri"/>
              </a:rPr>
              <a:t>Demonstração do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72B2"/>
                </a:solidFill>
                <a:latin typeface="Calibri"/>
              </a:rP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46E"/>
                </a:solidFill>
                <a:latin typeface="Calibri"/>
              </a:rPr>
              <a:t>Cair para a Série B é o pior resultado financeiro possível para um clube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BFD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Previsão de rebaixamento — Brasileirão Série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3/23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9507" y="1481328"/>
            <a:ext cx="3063240" cy="1207008"/>
          </a:xfrm>
          <a:prstGeom prst="roundRect">
            <a:avLst>
              <a:gd name="adj" fmla="val 1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89507" y="1600200"/>
            <a:ext cx="306324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D55E00"/>
                </a:solidFill>
                <a:latin typeface="Calibri"/>
              </a:rPr>
              <a:t>4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100" b="0" i="0">
                <a:solidFill>
                  <a:srgbClr val="5A646E"/>
                </a:solidFill>
                <a:latin typeface="Calibri"/>
              </a:rPr>
              <a:t>clubes rebaixados por temporada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64227" y="1481328"/>
            <a:ext cx="3063240" cy="1207008"/>
          </a:xfrm>
          <a:prstGeom prst="roundRect">
            <a:avLst>
              <a:gd name="adj" fmla="val 1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64227" y="1600200"/>
            <a:ext cx="306324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D55E00"/>
                </a:solidFill>
                <a:latin typeface="Calibri"/>
              </a:rPr>
              <a:t>20%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100" b="0" i="0">
                <a:solidFill>
                  <a:srgbClr val="5A646E"/>
                </a:solidFill>
                <a:latin typeface="Calibri"/>
              </a:rPr>
              <a:t>das observações — classe minoritária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8947" y="1481328"/>
            <a:ext cx="3063240" cy="1207008"/>
          </a:xfrm>
          <a:prstGeom prst="roundRect">
            <a:avLst>
              <a:gd name="adj" fmla="val 1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38947" y="1600200"/>
            <a:ext cx="306324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72B2"/>
                </a:solidFill>
                <a:latin typeface="Calibri"/>
              </a:rPr>
              <a:t>—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100" b="0" i="0">
                <a:solidFill>
                  <a:srgbClr val="5A646E"/>
                </a:solidFill>
                <a:latin typeface="Calibri"/>
              </a:rPr>
              <a:t>receita de TV, patrocínio e elenco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127248"/>
            <a:ext cx="10600639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62B30"/>
                </a:solidFill>
                <a:latin typeface="Calibri"/>
              </a:rPr>
              <a:t>A queda derruba receitas de transmissão, patrocínios e o valor do elenco.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70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62B30"/>
                </a:solidFill>
                <a:latin typeface="Calibri"/>
              </a:rPr>
              <a:t>Os efeitos se arrastam por </a:t>
            </a:r>
            <a:r>
              <a:rPr sz="1700" b="1" i="0">
                <a:solidFill>
                  <a:srgbClr val="262B30"/>
                </a:solidFill>
                <a:latin typeface="Calibri"/>
              </a:rPr>
              <a:t>várias temporadas</a:t>
            </a:r>
            <a:r>
              <a:rPr sz="1700" b="0" i="0">
                <a:solidFill>
                  <a:srgbClr val="262B30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70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62B30"/>
                </a:solidFill>
                <a:latin typeface="Calibri"/>
              </a:rPr>
              <a:t>Antecipar o risco permite agir: reforços, renegociação, orçamento.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72B2"/>
                </a:solidFill>
                <a:latin typeface="Calibri"/>
              </a:rPr>
              <a:t>A pergunta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BFD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Previsão de rebaixamento — Brasileirão Série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4607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4/23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664208"/>
            <a:ext cx="922903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0072B2"/>
                </a:solidFill>
                <a:latin typeface="Calibri"/>
              </a:rPr>
              <a:t>Dá para estimar quem cai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</a:pPr>
            <a:r>
              <a:rPr sz="3000" b="1" i="1">
                <a:solidFill>
                  <a:srgbClr val="0072B2"/>
                </a:solidFill>
                <a:latin typeface="Calibri"/>
              </a:rPr>
              <a:t>antes de a bola rolar</a:t>
            </a:r>
            <a:r>
              <a:rPr sz="3000" b="1" i="0">
                <a:solidFill>
                  <a:srgbClr val="0072B2"/>
                </a:solidFill>
                <a:latin typeface="Calibri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3310128"/>
            <a:ext cx="10600639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62B30"/>
                </a:solidFill>
                <a:latin typeface="Calibri"/>
              </a:rPr>
              <a:t>A literatura foca em </a:t>
            </a:r>
            <a:r>
              <a:rPr sz="1700" b="1" i="0">
                <a:solidFill>
                  <a:srgbClr val="262B30"/>
                </a:solidFill>
                <a:latin typeface="Calibri"/>
              </a:rPr>
              <a:t>resultado de partidas</a:t>
            </a:r>
            <a:r>
              <a:rPr sz="1700" b="0" i="0">
                <a:solidFill>
                  <a:srgbClr val="262B30"/>
                </a:solidFill>
                <a:latin typeface="Calibri"/>
              </a:rPr>
              <a:t> e em </a:t>
            </a:r>
            <a:r>
              <a:rPr sz="1700" b="1" i="0">
                <a:solidFill>
                  <a:srgbClr val="262B30"/>
                </a:solidFill>
                <a:latin typeface="Calibri"/>
              </a:rPr>
              <a:t>ligas europeias</a:t>
            </a:r>
            <a:r>
              <a:rPr sz="1700" b="0" i="0">
                <a:solidFill>
                  <a:srgbClr val="262B30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Bef>
                <a:spcPts val="1300"/>
              </a:spcBef>
            </a:pPr>
            <a:r>
              <a:rPr sz="170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62B30"/>
                </a:solidFill>
                <a:latin typeface="Calibri"/>
              </a:rPr>
              <a:t>Não localizei trabalho sobre rebaixamento no Brasileirão usando </a:t>
            </a:r>
            <a:r>
              <a:rPr sz="1700" b="1" i="0">
                <a:solidFill>
                  <a:srgbClr val="262B30"/>
                </a:solidFill>
                <a:latin typeface="Calibri"/>
              </a:rPr>
              <a:t>apenas informação pré-temporada</a:t>
            </a:r>
            <a:r>
              <a:rPr sz="1700" b="0" i="0">
                <a:solidFill>
                  <a:srgbClr val="262B30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Bef>
                <a:spcPts val="1300"/>
              </a:spcBef>
            </a:pPr>
            <a:r>
              <a:rPr sz="170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62B30"/>
                </a:solidFill>
                <a:latin typeface="Calibri"/>
              </a:rPr>
              <a:t>É justamente o cenário em que a previsão </a:t>
            </a:r>
            <a:r>
              <a:rPr sz="1700" b="1" i="0">
                <a:solidFill>
                  <a:srgbClr val="262B30"/>
                </a:solidFill>
                <a:latin typeface="Calibri"/>
              </a:rPr>
              <a:t>serve para decidir algo</a:t>
            </a:r>
            <a:r>
              <a:rPr sz="1700" b="0" i="0">
                <a:solidFill>
                  <a:srgbClr val="262B30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5669280"/>
            <a:ext cx="10600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646E"/>
                </a:solidFill>
                <a:latin typeface="Calibri"/>
              </a:rPr>
              <a:t>Busca no Google Scholar e Scopus: (relegation OR rebaixamento) AND (machine learning OR prediction).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72B2"/>
                </a:solidFill>
                <a:latin typeface="Calibri"/>
              </a:rPr>
              <a:t>Os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46E"/>
                </a:solidFill>
                <a:latin typeface="Calibri"/>
              </a:rPr>
              <a:t>Transfermarkt, raspagem automatizada · dados públicos, uso acadêmico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BFD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Previsão de rebaixamento — Brasileirão Série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5/23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9507" y="1481328"/>
            <a:ext cx="3063240" cy="1170432"/>
          </a:xfrm>
          <a:prstGeom prst="roundRect">
            <a:avLst>
              <a:gd name="adj" fmla="val 1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89507" y="1600200"/>
            <a:ext cx="306324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72B2"/>
                </a:solidFill>
                <a:latin typeface="Calibri"/>
              </a:rPr>
              <a:t>220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100" b="0" i="0">
                <a:solidFill>
                  <a:srgbClr val="5A646E"/>
                </a:solidFill>
                <a:latin typeface="Calibri"/>
              </a:rPr>
              <a:t>observações rotuladas (2014–2024)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64227" y="1481328"/>
            <a:ext cx="3063240" cy="1170432"/>
          </a:xfrm>
          <a:prstGeom prst="roundRect">
            <a:avLst>
              <a:gd name="adj" fmla="val 1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64227" y="1600200"/>
            <a:ext cx="306324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72B2"/>
                </a:solidFill>
                <a:latin typeface="Calibri"/>
              </a:rPr>
              <a:t>15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100" b="0" i="0">
                <a:solidFill>
                  <a:srgbClr val="5A646E"/>
                </a:solidFill>
                <a:latin typeface="Calibri"/>
              </a:rPr>
              <a:t>variáveis preditoras (features)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8947" y="1481328"/>
            <a:ext cx="3063240" cy="1170432"/>
          </a:xfrm>
          <a:prstGeom prst="roundRect">
            <a:avLst>
              <a:gd name="adj" fmla="val 1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38947" y="1600200"/>
            <a:ext cx="306324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D55E00"/>
                </a:solidFill>
                <a:latin typeface="Calibri"/>
              </a:rPr>
              <a:t>2025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100" b="0" i="0">
                <a:solidFill>
                  <a:srgbClr val="5A646E"/>
                </a:solidFill>
                <a:latin typeface="Calibri"/>
              </a:rPr>
              <a:t>temporada reservada para prever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0632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0072B2"/>
                </a:solidFill>
                <a:latin typeface="Calibri"/>
              </a:rPr>
              <a:t>3 de elenco</a:t>
            </a:r>
            <a:r>
              <a:rPr sz="1400" b="0" i="1">
                <a:solidFill>
                  <a:srgbClr val="5A646E"/>
                </a:solidFill>
                <a:latin typeface="Calibri"/>
              </a:rPr>
              <a:t>  (o que o clube tem)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547872"/>
            <a:ext cx="49377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62B30"/>
                </a:solidFill>
                <a:latin typeface="Calibri"/>
              </a:rPr>
              <a:t>valor de mercado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0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62B30"/>
                </a:solidFill>
                <a:latin typeface="Calibri"/>
              </a:rPr>
              <a:t>tamanho do plantel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0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62B30"/>
                </a:solidFill>
                <a:latin typeface="Calibri"/>
              </a:rPr>
              <a:t>nº de estrangeiros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3063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0072B2"/>
                </a:solidFill>
                <a:latin typeface="Calibri"/>
              </a:rPr>
              <a:t>12 de janela deslizante</a:t>
            </a:r>
            <a:r>
              <a:rPr sz="1400" b="0" i="1">
                <a:solidFill>
                  <a:srgbClr val="5A646E"/>
                </a:solidFill>
                <a:latin typeface="Calibri"/>
              </a:rPr>
              <a:t>  (o que ele fez)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3547872"/>
            <a:ext cx="5120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62B30"/>
                </a:solidFill>
                <a:latin typeface="Calibri"/>
              </a:rPr>
              <a:t>médias de 3 e 5 temporadas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0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62B30"/>
                </a:solidFill>
                <a:latin typeface="Calibri"/>
              </a:rPr>
              <a:t>pontos, saldo, gols, vitórias, aproveitamento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72B2"/>
                </a:solidFill>
                <a:latin typeface="Calibri"/>
              </a:rPr>
              <a:t>Tratamento dos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46E"/>
                </a:solidFill>
                <a:latin typeface="Calibri"/>
              </a:rPr>
              <a:t>O dado bruto não vinha pronto — o trabalho de limpeza foi parte do método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BFD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Previsão de rebaixamento — Brasileirão Série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6/23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48132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D55E00"/>
                </a:solidFill>
                <a:latin typeface="Calibri"/>
              </a:rPr>
              <a:t>O problema dos nomes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38528"/>
            <a:ext cx="5303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62B30"/>
                </a:solidFill>
                <a:latin typeface="Calibri"/>
              </a:rPr>
              <a:t>As duas páginas do Transfermarkt grafam o mesmo clube de formas diferentes — sem padronizar, o cruzamento falha: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88336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46E"/>
                </a:solidFill>
                <a:latin typeface="Consolas"/>
              </a:rPr>
              <a:t>Clube Atletico Paranaense</a:t>
            </a:r>
            <a:r>
              <a:rPr sz="1150" b="1" i="0">
                <a:solidFill>
                  <a:srgbClr val="D55E00"/>
                </a:solidFill>
                <a:latin typeface="Calibri"/>
              </a:rPr>
              <a:t>  →  </a:t>
            </a:r>
            <a:r>
              <a:rPr sz="1150" b="1" i="0">
                <a:solidFill>
                  <a:srgbClr val="262B30"/>
                </a:solidFill>
                <a:latin typeface="Consolas"/>
              </a:rPr>
              <a:t>Athletico Paranaense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7180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46E"/>
                </a:solidFill>
                <a:latin typeface="Consolas"/>
              </a:rPr>
              <a:t>Athletico-PR</a:t>
            </a:r>
            <a:r>
              <a:rPr sz="1150" b="1" i="0">
                <a:solidFill>
                  <a:srgbClr val="D55E00"/>
                </a:solidFill>
                <a:latin typeface="Calibri"/>
              </a:rPr>
              <a:t>  →  </a:t>
            </a:r>
            <a:r>
              <a:rPr sz="1150" b="1" i="0">
                <a:solidFill>
                  <a:srgbClr val="262B30"/>
                </a:solidFill>
                <a:latin typeface="Consolas"/>
              </a:rPr>
              <a:t>Athletico Paranaense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55264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46E"/>
                </a:solidFill>
                <a:latin typeface="Consolas"/>
              </a:rPr>
              <a:t>CR Vasco da Gama</a:t>
            </a:r>
            <a:r>
              <a:rPr sz="1150" b="1" i="0">
                <a:solidFill>
                  <a:srgbClr val="D55E00"/>
                </a:solidFill>
                <a:latin typeface="Calibri"/>
              </a:rPr>
              <a:t>  →  </a:t>
            </a:r>
            <a:r>
              <a:rPr sz="1150" b="1" i="0">
                <a:solidFill>
                  <a:srgbClr val="262B30"/>
                </a:solidFill>
                <a:latin typeface="Consolas"/>
              </a:rPr>
              <a:t>Vasco da Gama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53872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46E"/>
                </a:solidFill>
                <a:latin typeface="Consolas"/>
              </a:rPr>
              <a:t>RB Bragantino</a:t>
            </a:r>
            <a:r>
              <a:rPr sz="1150" b="1" i="0">
                <a:solidFill>
                  <a:srgbClr val="D55E00"/>
                </a:solidFill>
                <a:latin typeface="Calibri"/>
              </a:rPr>
              <a:t>  →  </a:t>
            </a:r>
            <a:r>
              <a:rPr sz="1150" b="1" i="0">
                <a:solidFill>
                  <a:srgbClr val="262B30"/>
                </a:solidFill>
                <a:latin typeface="Consolas"/>
              </a:rPr>
              <a:t>Bragantino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82219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46E"/>
                </a:solidFill>
                <a:latin typeface="Consolas"/>
              </a:rPr>
              <a:t>Gremio FBPA</a:t>
            </a:r>
            <a:r>
              <a:rPr sz="1150" b="1" i="0">
                <a:solidFill>
                  <a:srgbClr val="D55E00"/>
                </a:solidFill>
                <a:latin typeface="Calibri"/>
              </a:rPr>
              <a:t>  →  </a:t>
            </a:r>
            <a:r>
              <a:rPr sz="1150" b="1" i="0">
                <a:solidFill>
                  <a:srgbClr val="262B30"/>
                </a:solidFill>
                <a:latin typeface="Consolas"/>
              </a:rPr>
              <a:t>Gremio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215384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46E"/>
                </a:solidFill>
                <a:latin typeface="Calibri"/>
              </a:rPr>
              <a:t>Um dicionário de </a:t>
            </a:r>
            <a:r>
              <a:rPr sz="1200" b="1" i="0">
                <a:solidFill>
                  <a:srgbClr val="5A646E"/>
                </a:solidFill>
                <a:latin typeface="Calibri"/>
              </a:rPr>
              <a:t>normalização</a:t>
            </a:r>
            <a:r>
              <a:rPr sz="1200" b="0" i="0">
                <a:solidFill>
                  <a:srgbClr val="5A646E"/>
                </a:solidFill>
                <a:latin typeface="Calibri"/>
              </a:rPr>
              <a:t> com ~60 entradas + remoção de acentos resolveu o cruzamento por Clube + Temporada.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48132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0072B2"/>
                </a:solidFill>
                <a:latin typeface="Calibri"/>
              </a:rPr>
              <a:t>As outras etapas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1938528"/>
            <a:ext cx="51206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62B30"/>
                </a:solidFill>
                <a:latin typeface="Calibri"/>
              </a:rPr>
              <a:t>Valores monetários</a:t>
            </a:r>
            <a:r>
              <a:rPr sz="1350" b="0" i="0">
                <a:solidFill>
                  <a:srgbClr val="262B30"/>
                </a:solidFill>
                <a:latin typeface="Calibri"/>
              </a:rPr>
              <a:t>: remoção de “€”, “mi.”, “mil” e troca de vírgula por ponto.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35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62B30"/>
                </a:solidFill>
                <a:latin typeface="Calibri"/>
              </a:rPr>
              <a:t>Alvo</a:t>
            </a:r>
            <a:r>
              <a:rPr sz="1350" b="0" i="0">
                <a:solidFill>
                  <a:srgbClr val="262B30"/>
                </a:solidFill>
                <a:latin typeface="Calibri"/>
              </a:rPr>
              <a:t>: lista de rebaixados por temporada conferida ano a ano; o resto marcado como permanência.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35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62B30"/>
                </a:solidFill>
                <a:latin typeface="Calibri"/>
              </a:rPr>
              <a:t>Auditoria do cruzamento</a:t>
            </a:r>
            <a:r>
              <a:rPr sz="1350" b="0" i="0">
                <a:solidFill>
                  <a:srgbClr val="262B30"/>
                </a:solidFill>
                <a:latin typeface="Calibri"/>
              </a:rPr>
              <a:t>: checagem de registros com pontos ausentes para pegar merge que falhou.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35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62B30"/>
                </a:solidFill>
                <a:latin typeface="Calibri"/>
              </a:rPr>
              <a:t>Valores faltantes</a:t>
            </a:r>
            <a:r>
              <a:rPr sz="1350" b="0" i="0">
                <a:solidFill>
                  <a:srgbClr val="262B30"/>
                </a:solidFill>
                <a:latin typeface="Calibri"/>
              </a:rPr>
              <a:t>: recém-promovidos não têm histórico — imputação pela mediana do treino (15,5% das janelas).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35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62B30"/>
                </a:solidFill>
                <a:latin typeface="Calibri"/>
              </a:rPr>
              <a:t>Escala</a:t>
            </a:r>
            <a:r>
              <a:rPr sz="1350" b="0" i="0">
                <a:solidFill>
                  <a:srgbClr val="262B30"/>
                </a:solidFill>
                <a:latin typeface="Calibri"/>
              </a:rPr>
              <a:t>: padronização ajustada apenas no treino.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7" y="5623560"/>
            <a:ext cx="10509199" cy="548640"/>
          </a:xfrm>
          <a:prstGeom prst="roundRect">
            <a:avLst>
              <a:gd name="adj" fmla="val 14000"/>
            </a:avLst>
          </a:prstGeom>
          <a:solidFill>
            <a:srgbClr val="E0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50" b="1">
                <a:solidFill>
                  <a:srgbClr val="0072B2"/>
                </a:solidFill>
                <a:latin typeface="Calibri"/>
              </a:rPr>
              <a:t>220 observações limpas e auditadas — 11 temporadas × 20 clubes, sem furo no cruzamento.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72B2"/>
                </a:solidFill>
                <a:latin typeface="Calibri"/>
              </a:rPr>
              <a:t>O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46E"/>
                </a:solidFill>
                <a:latin typeface="Calibri"/>
              </a:rPr>
              <a:t>Um fio condutor: nenhuma informação do futuro entra no modelo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BFD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Previsão de rebaixamento — Brasileirão Série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7/23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711" y="1984248"/>
            <a:ext cx="1673352" cy="1188720"/>
          </a:xfrm>
          <a:prstGeom prst="roundRect">
            <a:avLst>
              <a:gd name="adj" fmla="val 12000"/>
            </a:avLst>
          </a:prstGeom>
          <a:solidFill>
            <a:srgbClr val="E7F1F8"/>
          </a:solidFill>
          <a:ln w="12700">
            <a:solidFill>
              <a:srgbClr val="9CC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262B30"/>
                </a:solidFill>
                <a:latin typeface="Calibri"/>
              </a:rPr>
              <a:t>Coleta</a:t>
            </a:r>
          </a:p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262B30"/>
                </a:solidFill>
                <a:latin typeface="Calibri"/>
              </a:rPr>
              <a:t>Transfermarkt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36495" y="2528315"/>
            <a:ext cx="201168" cy="100584"/>
          </a:xfrm>
          <a:prstGeom prst="rightArrow">
            <a:avLst/>
          </a:prstGeom>
          <a:solidFill>
            <a:srgbClr val="9C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65095" y="1984248"/>
            <a:ext cx="1673352" cy="1188720"/>
          </a:xfrm>
          <a:prstGeom prst="roundRect">
            <a:avLst>
              <a:gd name="adj" fmla="val 12000"/>
            </a:avLst>
          </a:prstGeom>
          <a:solidFill>
            <a:srgbClr val="E7F1F8"/>
          </a:solidFill>
          <a:ln w="12700">
            <a:solidFill>
              <a:srgbClr val="9CC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262B30"/>
                </a:solidFill>
                <a:latin typeface="Calibri"/>
              </a:rPr>
              <a:t>Janelas</a:t>
            </a:r>
          </a:p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262B30"/>
                </a:solidFill>
                <a:latin typeface="Calibri"/>
              </a:rPr>
              <a:t>shift(1).rolling()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65879" y="2528315"/>
            <a:ext cx="201168" cy="100584"/>
          </a:xfrm>
          <a:prstGeom prst="rightArrow">
            <a:avLst/>
          </a:prstGeom>
          <a:solidFill>
            <a:srgbClr val="9C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4479" y="1984248"/>
            <a:ext cx="1673352" cy="1188720"/>
          </a:xfrm>
          <a:prstGeom prst="roundRect">
            <a:avLst>
              <a:gd name="adj" fmla="val 12000"/>
            </a:avLst>
          </a:prstGeom>
          <a:solidFill>
            <a:srgbClr val="E7F1F8"/>
          </a:solidFill>
          <a:ln w="12700">
            <a:solidFill>
              <a:srgbClr val="9CC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262B30"/>
                </a:solidFill>
                <a:latin typeface="Calibri"/>
              </a:rPr>
              <a:t>Imputação e</a:t>
            </a:r>
          </a:p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262B30"/>
                </a:solidFill>
                <a:latin typeface="Calibri"/>
              </a:rPr>
              <a:t>padronização</a:t>
            </a:r>
          </a:p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62B30"/>
                </a:solidFill>
                <a:latin typeface="Calibri"/>
              </a:rPr>
              <a:t>só no treino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95263" y="2528315"/>
            <a:ext cx="201168" cy="100584"/>
          </a:xfrm>
          <a:prstGeom prst="rightArrow">
            <a:avLst/>
          </a:prstGeom>
          <a:solidFill>
            <a:srgbClr val="9C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23863" y="1984248"/>
            <a:ext cx="1673352" cy="1188720"/>
          </a:xfrm>
          <a:prstGeom prst="roundRect">
            <a:avLst>
              <a:gd name="adj" fmla="val 12000"/>
            </a:avLst>
          </a:prstGeom>
          <a:solidFill>
            <a:srgbClr val="E7F1F8"/>
          </a:solidFill>
          <a:ln w="12700">
            <a:solidFill>
              <a:srgbClr val="9CC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262B30"/>
                </a:solidFill>
                <a:latin typeface="Calibri"/>
              </a:rPr>
              <a:t>Validação</a:t>
            </a:r>
          </a:p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262B30"/>
                </a:solidFill>
                <a:latin typeface="Calibri"/>
              </a:rPr>
              <a:t>walk-forward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24647" y="2528315"/>
            <a:ext cx="201168" cy="100584"/>
          </a:xfrm>
          <a:prstGeom prst="rightArrow">
            <a:avLst/>
          </a:prstGeom>
          <a:solidFill>
            <a:srgbClr val="9C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53247" y="1984248"/>
            <a:ext cx="1673352" cy="1188720"/>
          </a:xfrm>
          <a:prstGeom prst="roundRect">
            <a:avLst>
              <a:gd name="adj" fmla="val 12000"/>
            </a:avLst>
          </a:prstGeom>
          <a:solidFill>
            <a:srgbClr val="E7F1F8"/>
          </a:solidFill>
          <a:ln w="12700">
            <a:solidFill>
              <a:srgbClr val="9CC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262B30"/>
                </a:solidFill>
                <a:latin typeface="Calibri"/>
              </a:rPr>
              <a:t>Ajuste de</a:t>
            </a:r>
          </a:p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262B30"/>
                </a:solidFill>
                <a:latin typeface="Calibri"/>
              </a:rPr>
              <a:t>hiperparâm.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854031" y="2528315"/>
            <a:ext cx="201168" cy="100584"/>
          </a:xfrm>
          <a:prstGeom prst="rightArrow">
            <a:avLst/>
          </a:prstGeom>
          <a:solidFill>
            <a:srgbClr val="9C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82631" y="1984248"/>
            <a:ext cx="1673352" cy="1188720"/>
          </a:xfrm>
          <a:prstGeom prst="roundRect">
            <a:avLst>
              <a:gd name="adj" fmla="val 12000"/>
            </a:avLst>
          </a:prstGeom>
          <a:solidFill>
            <a:srgbClr val="E7F1F8"/>
          </a:solidFill>
          <a:ln w="12700">
            <a:solidFill>
              <a:srgbClr val="9CC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262B30"/>
                </a:solidFill>
                <a:latin typeface="Calibri"/>
              </a:rPr>
              <a:t>Teste</a:t>
            </a:r>
          </a:p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262B30"/>
                </a:solidFill>
                <a:latin typeface="Calibri"/>
              </a:rPr>
              <a:t>2023–2024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98448" y="4315968"/>
            <a:ext cx="9594799" cy="749808"/>
          </a:xfrm>
          <a:prstGeom prst="roundRect">
            <a:avLst>
              <a:gd name="adj" fmla="val 14000"/>
            </a:avLst>
          </a:prstGeom>
          <a:solidFill>
            <a:srgbClr val="F9E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 b="1">
                <a:solidFill>
                  <a:srgbClr val="D55E00"/>
                </a:solidFill>
                <a:latin typeface="Calibri"/>
              </a:rPr>
              <a:t>As médias da temporada T usam só T−1 a T−w. Nunca a própria temporada prevista.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72B2"/>
                </a:solidFill>
                <a:latin typeface="Calibri"/>
              </a:rPr>
              <a:t>Por que não a validação cruzada tradicional?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BFD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Previsão de rebaixamento — Brasileirão Série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4607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8/23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48132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CC79A7"/>
                </a:solidFill>
                <a:latin typeface="Calibri"/>
              </a:rPr>
              <a:t>k-fold embaralhado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7" y="19842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DFA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84148" y="19842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C8C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27048" y="19842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DFA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69948" y="19842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C8C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12848" y="19842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DFA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55748" y="19842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C8C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98648" y="19842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DFA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41548" y="19842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C8C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84448" y="19842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DFA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27348" y="19842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C8C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70248" y="19842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DFA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41401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46E"/>
                </a:solidFill>
                <a:latin typeface="Calibri"/>
              </a:rPr>
              <a:t>2014 → 2024, ordem embaralhada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2898648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2B30"/>
                </a:solidFill>
                <a:latin typeface="Calibri"/>
              </a:rPr>
              <a:t>Treina com temporadas </a:t>
            </a:r>
            <a:r>
              <a:rPr sz="1500" b="1" i="0">
                <a:solidFill>
                  <a:srgbClr val="262B30"/>
                </a:solidFill>
                <a:latin typeface="Calibri"/>
              </a:rPr>
              <a:t>futuras</a:t>
            </a:r>
            <a:r>
              <a:rPr sz="1500" b="0" i="0">
                <a:solidFill>
                  <a:srgbClr val="262B30"/>
                </a:solidFill>
                <a:latin typeface="Calibri"/>
              </a:rPr>
              <a:t> para prever o passado.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500" b="1" i="0">
                <a:solidFill>
                  <a:srgbClr val="CC79A7"/>
                </a:solidFill>
                <a:latin typeface="Calibri"/>
              </a:rPr>
              <a:t>Otimista e irreal.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1481328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1">
                <a:solidFill>
                  <a:srgbClr val="0072B2"/>
                </a:solidFill>
                <a:latin typeface="Calibri"/>
              </a:rPr>
              <a:t>Walk-forward</a:t>
            </a:r>
            <a:r>
              <a:rPr sz="1700" b="1" i="0">
                <a:solidFill>
                  <a:srgbClr val="0072B2"/>
                </a:solidFill>
                <a:latin typeface="Calibri"/>
              </a:rPr>
              <a:t> (janela expansiva)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19842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82028" y="19842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24928" y="19842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67828" y="19842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10728" y="19842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53628" y="19842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796528" y="19842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79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39128" y="23271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82028" y="23271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24928" y="23271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67828" y="23271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10728" y="23271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53628" y="23271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796528" y="23271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39428" y="23271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79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739128" y="26700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082028" y="26700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24928" y="26700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767828" y="26700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10728" y="26700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453628" y="26700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796528" y="26700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139428" y="26700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482328" y="26700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79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739128" y="30129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082028" y="30129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424928" y="30129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767828" y="30129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110728" y="30129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453628" y="30129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796528" y="30129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139428" y="30129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482328" y="30129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825228" y="30129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79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739128" y="33558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082028" y="33558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424928" y="33558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767828" y="33558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110728" y="33558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453628" y="33558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796528" y="33558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139428" y="33558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482328" y="33558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825228" y="33558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66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0168128" y="33558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79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39128" y="38130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46E"/>
                </a:solidFill>
                <a:latin typeface="Calibri"/>
              </a:rPr>
              <a:t>treino ■   validação 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39128" y="4178808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2B30"/>
                </a:solidFill>
                <a:latin typeface="Calibri"/>
              </a:rPr>
              <a:t>Sempre treina no passado e valida no ano seguinte.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72B2"/>
                </a:solidFill>
                <a:latin typeface="Calibri"/>
              </a:rPr>
              <a:t>Estabilidade ao longo das temporadas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46E"/>
                </a:solidFill>
                <a:latin typeface="Calibri"/>
              </a:rPr>
              <a:t>AUC-ROC em cada temporada de validação — 5 partições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BFD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Previsão de rebaixamento — Brasileirão Série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9/23</a:t>
            </a:r>
          </a:p>
        </p:txBody>
      </p:sp>
      <p:pic>
        <p:nvPicPr>
          <p:cNvPr id="7" name="Picture 6" descr="slide_walk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386" y="1527048"/>
            <a:ext cx="6180922" cy="4069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72414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i="0">
                <a:solidFill>
                  <a:srgbClr val="262B30"/>
                </a:solidFill>
                <a:latin typeface="Calibri"/>
              </a:rPr>
              <a:t>A Regressão Logística é a mais estável (±0,058); o LightGBM, o mais volátil (±0,151).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72B2"/>
                </a:solidFill>
                <a:latin typeface="Calibri"/>
              </a:rPr>
              <a:t>Teste independente: 2023–2024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46E"/>
                </a:solidFill>
                <a:latin typeface="Calibri"/>
              </a:rPr>
              <a:t>40 observações nunca vistas em nenhuma etapa anterior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BFD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Previsão de rebaixamento — Brasileirão Série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10/23</a:t>
            </a:r>
          </a:p>
        </p:txBody>
      </p:sp>
      <p:pic>
        <p:nvPicPr>
          <p:cNvPr id="7" name="Picture 6" descr="slide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300" y="1527048"/>
            <a:ext cx="5466679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892808"/>
            <a:ext cx="3840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D55E00"/>
                </a:solidFill>
                <a:latin typeface="Calibri"/>
              </a:rPr>
              <a:t>■  </a:t>
            </a:r>
            <a:r>
              <a:rPr sz="1600" b="1" i="0">
                <a:solidFill>
                  <a:srgbClr val="262B30"/>
                </a:solidFill>
                <a:latin typeface="Calibri"/>
              </a:rPr>
              <a:t>LightGBM 0,877</a:t>
            </a:r>
          </a:p>
          <a:p>
            <a:pPr algn="l">
              <a:lnSpc>
                <a:spcPct val="120000"/>
              </a:lnSpc>
              <a:spcBef>
                <a:spcPts val="1100"/>
              </a:spcBef>
            </a:pPr>
            <a:r>
              <a:rPr sz="1600" b="0" i="0">
                <a:solidFill>
                  <a:srgbClr val="009E73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Random Forest 0,844</a:t>
            </a:r>
          </a:p>
          <a:p>
            <a:pPr algn="l">
              <a:lnSpc>
                <a:spcPct val="120000"/>
              </a:lnSpc>
              <a:spcBef>
                <a:spcPts val="1100"/>
              </a:spcBef>
            </a:pPr>
            <a:r>
              <a:rPr sz="1600" b="0" i="0">
                <a:solidFill>
                  <a:srgbClr val="0072B2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Reg. Logística 0,828</a:t>
            </a:r>
          </a:p>
          <a:p>
            <a:pPr algn="l">
              <a:lnSpc>
                <a:spcPct val="120000"/>
              </a:lnSpc>
              <a:spcBef>
                <a:spcPts val="1100"/>
              </a:spcBef>
            </a:pPr>
            <a:r>
              <a:rPr sz="1600" b="0" i="0">
                <a:solidFill>
                  <a:srgbClr val="CC79A7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XGBoost </a:t>
            </a:r>
            <a:r>
              <a:rPr sz="1600" b="1" i="0">
                <a:solidFill>
                  <a:srgbClr val="262B30"/>
                </a:solidFill>
                <a:latin typeface="Calibri"/>
              </a:rPr>
              <a:t>0,652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4224528"/>
            <a:ext cx="3840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D55E00"/>
                </a:solidFill>
                <a:latin typeface="Calibri"/>
              </a:rPr>
              <a:t>Mas o XGBoost tem a mesma acurácia que o LightGBM: 82,5%.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72B2"/>
                </a:solidFill>
                <a:latin typeface="Calibri"/>
              </a:rPr>
              <a:t>A armadilha da acurácia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46E"/>
                </a:solidFill>
                <a:latin typeface="Calibri"/>
              </a:rPr>
              <a:t>Mesma acurácia, mesma matriz de confusão — AUC muito diferente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BFD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Previsão de rebaixamento — Brasileirão Série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11/23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CC79A7"/>
                </a:solidFill>
                <a:latin typeface="Calibri"/>
              </a:rPr>
              <a:t>■  </a:t>
            </a:r>
            <a:r>
              <a:rPr sz="1500" b="0" i="0">
                <a:solidFill>
                  <a:srgbClr val="262B30"/>
                </a:solidFill>
                <a:latin typeface="Calibri"/>
              </a:rPr>
              <a:t>XGBoost 82,5% → AUC </a:t>
            </a:r>
            <a:r>
              <a:rPr sz="1500" b="1" i="0">
                <a:solidFill>
                  <a:srgbClr val="262B30"/>
                </a:solidFill>
                <a:latin typeface="Calibri"/>
              </a:rPr>
              <a:t>0,652</a:t>
            </a:r>
            <a:r>
              <a:rPr sz="1500" b="0" i="0">
                <a:solidFill>
                  <a:srgbClr val="262B30"/>
                </a:solidFill>
                <a:latin typeface="Calibri"/>
              </a:rPr>
              <a:t>          </a:t>
            </a:r>
            <a:r>
              <a:rPr sz="1500" b="0" i="0">
                <a:solidFill>
                  <a:srgbClr val="D55E00"/>
                </a:solidFill>
                <a:latin typeface="Calibri"/>
              </a:rPr>
              <a:t>■  </a:t>
            </a:r>
            <a:r>
              <a:rPr sz="1500" b="0" i="0">
                <a:solidFill>
                  <a:srgbClr val="262B30"/>
                </a:solidFill>
                <a:latin typeface="Calibri"/>
              </a:rPr>
              <a:t>LightGBM 82,5% → AUC </a:t>
            </a:r>
            <a:r>
              <a:rPr sz="1500" b="1" i="0">
                <a:solidFill>
                  <a:srgbClr val="262B30"/>
                </a:solidFill>
                <a:latin typeface="Calibri"/>
              </a:rPr>
              <a:t>0,877</a:t>
            </a:r>
          </a:p>
        </p:txBody>
      </p:sp>
      <p:pic>
        <p:nvPicPr>
          <p:cNvPr id="8" name="Picture 7" descr="slide_armadil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730" y="1956816"/>
            <a:ext cx="8536233" cy="3246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34924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i="0">
                <a:solidFill>
                  <a:srgbClr val="262B30"/>
                </a:solidFill>
                <a:latin typeface="Calibri"/>
              </a:rPr>
              <a:t>A acurácia só olha a decisão no limiar. O AUC olha a ordenação inteira — e é ela que serve à gestão.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72B2"/>
                </a:solidFill>
                <a:latin typeface="Calibri"/>
              </a:rPr>
              <a:t>O que pesa no risco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46E"/>
                </a:solidFill>
                <a:latin typeface="Calibri"/>
              </a:rPr>
              <a:t>Coeficientes padronizados da Regressão Logística — 8 maiores em módulo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BFD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Previsão de rebaixamento — Brasileirão Série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12/23</a:t>
            </a:r>
          </a:p>
        </p:txBody>
      </p:sp>
      <p:pic>
        <p:nvPicPr>
          <p:cNvPr id="7" name="Picture 6" descr="slide_importa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437" y="1527048"/>
            <a:ext cx="9592819" cy="388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54126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i="0">
                <a:solidFill>
                  <a:srgbClr val="262B30"/>
                </a:solidFill>
                <a:latin typeface="Calibri"/>
              </a:rPr>
              <a:t>Valor de elenco é a variável dominante; vitórias recentes protegem.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4360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A646E"/>
                </a:solidFill>
                <a:latin typeface="Calibri"/>
              </a:rPr>
              <a:t>Sinais entre janelas da mesma métrica devem ser lidos em conjunto (multicolinearidade).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72B2"/>
                </a:solidFill>
                <a:latin typeface="Calibri"/>
              </a:rPr>
              <a:t>Qual modelo levar para a prática?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BFD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Previsão de rebaixamento — Brasileirão Série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4607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13/23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57276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D55E00"/>
                </a:solidFill>
                <a:latin typeface="Calibri"/>
              </a:rPr>
              <a:t>LightGBM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103120"/>
            <a:ext cx="4937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D55E00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melhor AUC no teste: </a:t>
            </a:r>
            <a:r>
              <a:rPr sz="1600" b="1" i="0">
                <a:solidFill>
                  <a:srgbClr val="262B30"/>
                </a:solidFill>
                <a:latin typeface="Calibri"/>
              </a:rPr>
              <a:t>0,877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600" b="1" i="0">
                <a:solidFill>
                  <a:srgbClr val="D55E00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mas oscila entre temporadas: ±0,151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600" b="1" i="0">
                <a:solidFill>
                  <a:srgbClr val="D55E00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caixa-preta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9128" y="1572768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072B2"/>
                </a:solidFill>
                <a:latin typeface="Calibri"/>
              </a:rPr>
              <a:t>Regressão Logística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6288" y="2103120"/>
            <a:ext cx="5029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AUC 0,828 — terceira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60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62B30"/>
                </a:solidFill>
                <a:latin typeface="Calibri"/>
              </a:rPr>
              <a:t>mais estável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: ±0,058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60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coeficientes interpretáveis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60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probabilidades calibradas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15568" y="4983480"/>
            <a:ext cx="9960559" cy="868680"/>
          </a:xfrm>
          <a:prstGeom prst="roundRect">
            <a:avLst>
              <a:gd name="adj" fmla="val 14000"/>
            </a:avLst>
          </a:prstGeom>
          <a:solidFill>
            <a:srgbClr val="E0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600" b="1">
                <a:solidFill>
                  <a:srgbClr val="0072B2"/>
                </a:solidFill>
                <a:latin typeface="Calibri"/>
              </a:rPr>
              <a:t>Escolhi a Regressão Logística: estabilidade e interpretabilidade acima do pico de desempenho.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72B2"/>
                </a:solidFill>
                <a:latin typeface="Calibri"/>
              </a:rPr>
              <a:t>A previsão para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46E"/>
                </a:solidFill>
                <a:latin typeface="Calibri"/>
              </a:rPr>
              <a:t>Regressão Logística treinada em 2014–2024 · 10 maiores riscos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BFD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Previsão de rebaixamento — Brasileirão Série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14/23</a:t>
            </a:r>
          </a:p>
        </p:txBody>
      </p:sp>
      <p:pic>
        <p:nvPicPr>
          <p:cNvPr id="7" name="Picture 6" descr="slide_previsao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014" y="1527048"/>
            <a:ext cx="8233666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788152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i="0">
                <a:solidFill>
                  <a:srgbClr val="262B30"/>
                </a:solidFill>
                <a:latin typeface="Calibri"/>
              </a:rPr>
              <a:t>Juventude, Sport Recife, Vitória e Mirassol — os quatro maiores riscos.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72B2"/>
                </a:solidFill>
                <a:latin typeface="Calibri"/>
              </a:rPr>
              <a:t>A prova real: o campeonato aconteceu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46E"/>
                </a:solidFill>
                <a:latin typeface="Calibri"/>
              </a:rPr>
              <a:t>Validação retroativa contra o resultado oficial de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BFD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Previsão de rebaixamento — Brasileirão Série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15/23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3999" y="1481328"/>
            <a:ext cx="2615184" cy="1143000"/>
          </a:xfrm>
          <a:prstGeom prst="roundRect">
            <a:avLst>
              <a:gd name="adj" fmla="val 1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3999" y="1600200"/>
            <a:ext cx="261518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D55E00"/>
                </a:solidFill>
                <a:latin typeface="Calibri"/>
              </a:rPr>
              <a:t>2 de 4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100" b="0" i="0">
                <a:solidFill>
                  <a:srgbClr val="5A646E"/>
                </a:solidFill>
                <a:latin typeface="Calibri"/>
              </a:rPr>
              <a:t>rebaixamentos previstos no corte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3503" y="1481328"/>
            <a:ext cx="2615184" cy="1143000"/>
          </a:xfrm>
          <a:prstGeom prst="roundRect">
            <a:avLst>
              <a:gd name="adj" fmla="val 1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343503" y="1600200"/>
            <a:ext cx="261518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072B2"/>
                </a:solidFill>
                <a:latin typeface="Calibri"/>
              </a:rPr>
              <a:t>0,922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100" b="0" i="0">
                <a:solidFill>
                  <a:srgbClr val="5A646E"/>
                </a:solidFill>
                <a:latin typeface="Calibri"/>
              </a:rPr>
              <a:t>AUC-ROC realizado na temporada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481328"/>
            <a:ext cx="2615184" cy="1143000"/>
          </a:xfrm>
          <a:prstGeom prst="roundRect">
            <a:avLst>
              <a:gd name="adj" fmla="val 1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33007" y="1600200"/>
            <a:ext cx="261518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072B2"/>
                </a:solidFill>
                <a:latin typeface="Calibri"/>
              </a:rPr>
              <a:t>4 de 4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100" b="0" i="0">
                <a:solidFill>
                  <a:srgbClr val="5A646E"/>
                </a:solidFill>
                <a:latin typeface="Calibri"/>
              </a:rPr>
              <a:t>rebaixados entre os 7 maiores riscos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22511" y="1481328"/>
            <a:ext cx="2615184" cy="1143000"/>
          </a:xfrm>
          <a:prstGeom prst="roundRect">
            <a:avLst>
              <a:gd name="adj" fmla="val 1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22511" y="1600200"/>
            <a:ext cx="261518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072B2"/>
                </a:solidFill>
                <a:latin typeface="Calibri"/>
              </a:rPr>
              <a:t>59/64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100" b="0" i="0">
                <a:solidFill>
                  <a:srgbClr val="5A646E"/>
                </a:solidFill>
                <a:latin typeface="Calibri"/>
              </a:rPr>
              <a:t>pares ordenados corretamente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063240"/>
            <a:ext cx="1060063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Melhor AUC de todos os períodos avaliados — acima do teste (0,828).</a:t>
            </a:r>
          </a:p>
          <a:p>
            <a:pPr algn="l">
              <a:lnSpc>
                <a:spcPct val="120000"/>
              </a:lnSpc>
              <a:spcBef>
                <a:spcPts val="1300"/>
              </a:spcBef>
            </a:pPr>
            <a:r>
              <a:rPr sz="160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O LightGBM, campeão no teste, caiu para </a:t>
            </a:r>
            <a:r>
              <a:rPr sz="1600" b="1" i="0">
                <a:solidFill>
                  <a:srgbClr val="262B30"/>
                </a:solidFill>
                <a:latin typeface="Calibri"/>
              </a:rPr>
              <a:t>0,711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: a instabilidade vista no walk-forward se confirmou.</a:t>
            </a:r>
          </a:p>
          <a:p>
            <a:pPr algn="l">
              <a:lnSpc>
                <a:spcPct val="120000"/>
              </a:lnSpc>
              <a:spcBef>
                <a:spcPts val="1300"/>
              </a:spcBef>
            </a:pPr>
            <a:r>
              <a:rPr sz="160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Supera as heurísticas ingênuas — menor valor de elenco (0,906) e pior média de pontos (0,766).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72B2"/>
                </a:solidFill>
                <a:latin typeface="Calibri"/>
              </a:rPr>
              <a:t>Previsto × aconteceu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46E"/>
                </a:solidFill>
                <a:latin typeface="Calibri"/>
              </a:rPr>
              <a:t>Ranking de risco previsto ligado à classificação final real de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BFD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Previsão de rebaixamento — Brasileirão Série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16/23</a:t>
            </a:r>
          </a:p>
        </p:txBody>
      </p:sp>
      <p:pic>
        <p:nvPicPr>
          <p:cNvPr id="7" name="Picture 6" descr="slide_previsto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104" y="1463040"/>
            <a:ext cx="832748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72B2"/>
                </a:solidFill>
                <a:latin typeface="Calibri"/>
              </a:rPr>
              <a:t>O erro que mais ensina: Mirassol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46E"/>
                </a:solidFill>
                <a:latin typeface="Calibri"/>
              </a:rPr>
              <a:t>Um caso atípico — e o tempo tem dado razão ao modelo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BFD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Previsão de rebaixamento — Brasileirão Série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17/23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9507" y="1481328"/>
            <a:ext cx="3063240" cy="1143000"/>
          </a:xfrm>
          <a:prstGeom prst="roundRect">
            <a:avLst>
              <a:gd name="adj" fmla="val 1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89507" y="1600200"/>
            <a:ext cx="3063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D55E00"/>
                </a:solidFill>
                <a:latin typeface="Calibri"/>
              </a:rPr>
              <a:t>43,6%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100" b="0" i="0">
                <a:solidFill>
                  <a:srgbClr val="5A646E"/>
                </a:solidFill>
                <a:latin typeface="Calibri"/>
              </a:rPr>
              <a:t>risco previsto para 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64227" y="1481328"/>
            <a:ext cx="3063240" cy="1143000"/>
          </a:xfrm>
          <a:prstGeom prst="roundRect">
            <a:avLst>
              <a:gd name="adj" fmla="val 1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64227" y="1600200"/>
            <a:ext cx="3063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009E73"/>
                </a:solidFill>
                <a:latin typeface="Calibri"/>
              </a:rPr>
              <a:t>4º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100" b="0" i="0">
                <a:solidFill>
                  <a:srgbClr val="5A646E"/>
                </a:solidFill>
                <a:latin typeface="Calibri"/>
              </a:rPr>
              <a:t>posição final em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8947" y="1481328"/>
            <a:ext cx="3063240" cy="1143000"/>
          </a:xfrm>
          <a:prstGeom prst="roundRect">
            <a:avLst>
              <a:gd name="adj" fmla="val 1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38947" y="1600200"/>
            <a:ext cx="3063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D55E00"/>
                </a:solidFill>
                <a:latin typeface="Calibri"/>
              </a:rPr>
              <a:t>19º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100" b="0" i="0">
                <a:solidFill>
                  <a:srgbClr val="5A646E"/>
                </a:solidFill>
                <a:latin typeface="Calibri"/>
              </a:rPr>
              <a:t>em 2026, campeonato em curso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999232"/>
            <a:ext cx="1060063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Estreante sem histórico na Série A: as 12 features de janela receberam a mediana do treino.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60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Em 2026 o clube aparece na </a:t>
            </a:r>
            <a:r>
              <a:rPr sz="1600" b="1" i="0">
                <a:solidFill>
                  <a:srgbClr val="262B30"/>
                </a:solidFill>
                <a:latin typeface="Calibri"/>
              </a:rPr>
              <a:t>zona de rebaixamento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 — a fragilidade apontada não desapareceu, apenas demorou uma temporada.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5568" y="4956048"/>
            <a:ext cx="9960559" cy="804672"/>
          </a:xfrm>
          <a:prstGeom prst="roundRect">
            <a:avLst>
              <a:gd name="adj" fmla="val 14000"/>
            </a:avLst>
          </a:prstGeom>
          <a:solidFill>
            <a:srgbClr val="E0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600" b="1">
                <a:solidFill>
                  <a:srgbClr val="0072B2"/>
                </a:solidFill>
                <a:latin typeface="Calibri"/>
              </a:rPr>
              <a:t>Mirassol é outlier: sem a campanha atípica de 2025, teria caído.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870448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5A646E"/>
                </a:solidFill>
                <a:latin typeface="Calibri"/>
              </a:rPr>
              <a:t>Classificação de 2026 em andamento (20 rodadas), consultada em jul./2026.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72B2"/>
                </a:solidFill>
                <a:latin typeface="Calibri"/>
              </a:rPr>
              <a:t>Dez anos de risco em um quadro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46E"/>
                </a:solidFill>
                <a:latin typeface="Calibri"/>
              </a:rPr>
              <a:t>Modelo retreinado só com o passado de cada temporada · recorte de 16 clubes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BFD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Previsão de rebaixamento — Brasileirão Série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18/23</a:t>
            </a:r>
          </a:p>
        </p:txBody>
      </p:sp>
      <p:pic>
        <p:nvPicPr>
          <p:cNvPr id="7" name="Picture 6" descr="slid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530" y="1499616"/>
            <a:ext cx="7308634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788151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i="0">
                <a:solidFill>
                  <a:srgbClr val="262B30"/>
                </a:solidFill>
                <a:latin typeface="Calibri"/>
              </a:rPr>
              <a:t>O “efeito elevador” no topo; os grandes em risco baixo e estável embaixo.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72B2"/>
                </a:solidFill>
                <a:latin typeface="Calibri"/>
              </a:rPr>
              <a:t>Considerações finais: os 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46E"/>
                </a:solidFill>
                <a:latin typeface="Calibri"/>
              </a:rPr>
              <a:t>Retomada dos cinco objetivos específicos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BFD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Previsão de rebaixamento — Brasileirão Série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19/23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32927" y="38404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D55E00"/>
                </a:solidFill>
                <a:latin typeface="Calibri"/>
              </a:rPr>
              <a:t>CONSIDERAÇÕES FINAIS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527048"/>
            <a:ext cx="1050919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09E73"/>
                </a:solidFill>
                <a:latin typeface="Calibri"/>
              </a:rPr>
              <a:t>✓  </a:t>
            </a:r>
            <a:r>
              <a:rPr sz="1500" b="1" i="0">
                <a:solidFill>
                  <a:srgbClr val="5A646E"/>
                </a:solidFill>
                <a:latin typeface="Calibri"/>
              </a:rPr>
              <a:t>(i) </a:t>
            </a:r>
            <a:r>
              <a:rPr sz="1550" b="1" i="0">
                <a:solidFill>
                  <a:srgbClr val="262B30"/>
                </a:solidFill>
                <a:latin typeface="Calibri"/>
              </a:rPr>
              <a:t>Construir a base histórica 2014–2025 com elenco e desempenho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 i="0">
                <a:solidFill>
                  <a:srgbClr val="262B30"/>
                </a:solidFill>
                <a:latin typeface="Calibri"/>
              </a:rPr>
              <a:t>        </a:t>
            </a:r>
            <a:r>
              <a:rPr sz="1250" b="0" i="0">
                <a:solidFill>
                  <a:srgbClr val="5A646E"/>
                </a:solidFill>
                <a:latin typeface="Calibri"/>
              </a:rPr>
              <a:t>220 observações rotuladas + 2025 para prever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13432"/>
            <a:ext cx="1050919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09E73"/>
                </a:solidFill>
                <a:latin typeface="Calibri"/>
              </a:rPr>
              <a:t>✓  </a:t>
            </a:r>
            <a:r>
              <a:rPr sz="1500" b="1" i="0">
                <a:solidFill>
                  <a:srgbClr val="5A646E"/>
                </a:solidFill>
                <a:latin typeface="Calibri"/>
              </a:rPr>
              <a:t>(ii) </a:t>
            </a:r>
            <a:r>
              <a:rPr sz="1550" b="1" i="0">
                <a:solidFill>
                  <a:srgbClr val="262B30"/>
                </a:solidFill>
                <a:latin typeface="Calibri"/>
              </a:rPr>
              <a:t>Engenharia de features com janelas, sem vazamento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 i="0">
                <a:solidFill>
                  <a:srgbClr val="262B30"/>
                </a:solidFill>
                <a:latin typeface="Calibri"/>
              </a:rPr>
              <a:t>        </a:t>
            </a:r>
            <a:r>
              <a:rPr sz="1250" b="0" i="0">
                <a:solidFill>
                  <a:srgbClr val="5A646E"/>
                </a:solidFill>
                <a:latin typeface="Calibri"/>
              </a:rPr>
              <a:t>shift(1).rolling(); imputação e escala só no treino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099816"/>
            <a:ext cx="1050919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09E73"/>
                </a:solidFill>
                <a:latin typeface="Calibri"/>
              </a:rPr>
              <a:t>✓  </a:t>
            </a:r>
            <a:r>
              <a:rPr sz="1500" b="1" i="0">
                <a:solidFill>
                  <a:srgbClr val="5A646E"/>
                </a:solidFill>
                <a:latin typeface="Calibri"/>
              </a:rPr>
              <a:t>(iii) </a:t>
            </a:r>
            <a:r>
              <a:rPr sz="1550" b="1" i="0">
                <a:solidFill>
                  <a:srgbClr val="262B30"/>
                </a:solidFill>
                <a:latin typeface="Calibri"/>
              </a:rPr>
              <a:t>Treinar e otimizar quatro algoritmos com validação temporal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 i="0">
                <a:solidFill>
                  <a:srgbClr val="262B30"/>
                </a:solidFill>
                <a:latin typeface="Calibri"/>
              </a:rPr>
              <a:t>        </a:t>
            </a:r>
            <a:r>
              <a:rPr sz="1250" b="0" i="0">
                <a:solidFill>
                  <a:srgbClr val="5A646E"/>
                </a:solidFill>
                <a:latin typeface="Calibri"/>
              </a:rPr>
              <a:t>walk-forward de 5 partições + RandomizedSearchCV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886200"/>
            <a:ext cx="1050919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09E73"/>
                </a:solidFill>
                <a:latin typeface="Calibri"/>
              </a:rPr>
              <a:t>✓  </a:t>
            </a:r>
            <a:r>
              <a:rPr sz="1500" b="1" i="0">
                <a:solidFill>
                  <a:srgbClr val="5A646E"/>
                </a:solidFill>
                <a:latin typeface="Calibri"/>
              </a:rPr>
              <a:t>(iv) </a:t>
            </a:r>
            <a:r>
              <a:rPr sz="1550" b="1" i="0">
                <a:solidFill>
                  <a:srgbClr val="262B30"/>
                </a:solidFill>
                <a:latin typeface="Calibri"/>
              </a:rPr>
              <a:t>Comparar em teste independente com métrica adequada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 i="0">
                <a:solidFill>
                  <a:srgbClr val="262B30"/>
                </a:solidFill>
                <a:latin typeface="Calibri"/>
              </a:rPr>
              <a:t>        </a:t>
            </a:r>
            <a:r>
              <a:rPr sz="1250" b="0" i="0">
                <a:solidFill>
                  <a:srgbClr val="5A646E"/>
                </a:solidFill>
                <a:latin typeface="Calibri"/>
              </a:rPr>
              <a:t>AUC-ROC em 2023–2024; LightGBM 0,877, Logística 0,828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672584"/>
            <a:ext cx="1050919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09E73"/>
                </a:solidFill>
                <a:latin typeface="Calibri"/>
              </a:rPr>
              <a:t>✓  </a:t>
            </a:r>
            <a:r>
              <a:rPr sz="1500" b="1" i="0">
                <a:solidFill>
                  <a:srgbClr val="5A646E"/>
                </a:solidFill>
                <a:latin typeface="Calibri"/>
              </a:rPr>
              <a:t>(v) </a:t>
            </a:r>
            <a:r>
              <a:rPr sz="1550" b="1" i="0">
                <a:solidFill>
                  <a:srgbClr val="262B30"/>
                </a:solidFill>
                <a:latin typeface="Calibri"/>
              </a:rPr>
              <a:t>Aplicar o modelo final à previsão de 2025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 i="0">
                <a:solidFill>
                  <a:srgbClr val="262B30"/>
                </a:solidFill>
                <a:latin typeface="Calibri"/>
              </a:rPr>
              <a:t>        </a:t>
            </a:r>
            <a:r>
              <a:rPr sz="1250" b="0" i="0">
                <a:solidFill>
                  <a:srgbClr val="5A646E"/>
                </a:solidFill>
                <a:latin typeface="Calibri"/>
              </a:rPr>
              <a:t>e validá-la contra o resultado oficial: AUC 0,922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" y="5577840"/>
            <a:ext cx="9960559" cy="566928"/>
          </a:xfrm>
          <a:prstGeom prst="roundRect">
            <a:avLst>
              <a:gd name="adj" fmla="val 14000"/>
            </a:avLst>
          </a:prstGeom>
          <a:solidFill>
            <a:srgbClr val="E0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 b="1">
                <a:solidFill>
                  <a:srgbClr val="0072B2"/>
                </a:solidFill>
                <a:latin typeface="Calibri"/>
              </a:rPr>
              <a:t>O objetivo geral foi alcançado.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72B2"/>
                </a:solidFill>
                <a:latin typeface="Calibri"/>
              </a:rPr>
              <a:t>Considerações finais: contribuições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BFD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Previsão de rebaixamento — Brasileirão Série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4607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20/23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32927" y="38404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D55E00"/>
                </a:solidFill>
                <a:latin typeface="Calibri"/>
              </a:rPr>
              <a:t>CONSIDERAÇÕES FINAIS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682496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0072B2"/>
                </a:solidFill>
                <a:latin typeface="Calibri"/>
              </a:rPr>
              <a:t>1.  </a:t>
            </a:r>
            <a:r>
              <a:rPr sz="1750" b="1" i="0">
                <a:solidFill>
                  <a:srgbClr val="262B30"/>
                </a:solidFill>
                <a:latin typeface="Calibri"/>
              </a:rPr>
              <a:t>Pipeline reprodutível e sem vazamento temporal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300" b="0" i="0">
                <a:solidFill>
                  <a:srgbClr val="262B30"/>
                </a:solidFill>
                <a:latin typeface="Calibri"/>
              </a:rPr>
              <a:t>       </a:t>
            </a:r>
            <a:r>
              <a:rPr sz="1350" b="0" i="0">
                <a:solidFill>
                  <a:srgbClr val="5A646E"/>
                </a:solidFill>
                <a:latin typeface="Calibri"/>
              </a:rPr>
              <a:t>código, dados e experimentos em repositório público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752344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0072B2"/>
                </a:solidFill>
                <a:latin typeface="Calibri"/>
              </a:rPr>
              <a:t>2.  </a:t>
            </a:r>
            <a:r>
              <a:rPr sz="1750" b="1" i="0">
                <a:solidFill>
                  <a:srgbClr val="262B30"/>
                </a:solidFill>
                <a:latin typeface="Calibri"/>
              </a:rPr>
              <a:t>Demonstração empírica da armadilha da acurácia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300" b="0" i="0">
                <a:solidFill>
                  <a:srgbClr val="262B30"/>
                </a:solidFill>
                <a:latin typeface="Calibri"/>
              </a:rPr>
              <a:t>       </a:t>
            </a:r>
            <a:r>
              <a:rPr sz="1350" b="0" i="0">
                <a:solidFill>
                  <a:srgbClr val="5A646E"/>
                </a:solidFill>
                <a:latin typeface="Calibri"/>
              </a:rPr>
              <a:t>mesma acurácia e mesma matriz de confusão, AUC de 0,652 contra 0,877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822191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0072B2"/>
                </a:solidFill>
                <a:latin typeface="Calibri"/>
              </a:rPr>
              <a:t>3.  </a:t>
            </a:r>
            <a:r>
              <a:rPr sz="1750" b="1" i="0">
                <a:solidFill>
                  <a:srgbClr val="262B30"/>
                </a:solidFill>
                <a:latin typeface="Calibri"/>
              </a:rPr>
              <a:t>Histórico recente complementa o indicador financeiro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300" b="0" i="0">
                <a:solidFill>
                  <a:srgbClr val="262B30"/>
                </a:solidFill>
                <a:latin typeface="Calibri"/>
              </a:rPr>
              <a:t>       </a:t>
            </a:r>
            <a:r>
              <a:rPr sz="1350" b="0" i="0">
                <a:solidFill>
                  <a:srgbClr val="5A646E"/>
                </a:solidFill>
                <a:latin typeface="Calibri"/>
              </a:rPr>
              <a:t>elenco e desempenho carregam informação parcialmente distinta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4892040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D55E00"/>
                </a:solidFill>
                <a:latin typeface="Calibri"/>
              </a:rPr>
              <a:t>4.  </a:t>
            </a:r>
            <a:r>
              <a:rPr sz="1750" b="1" i="0">
                <a:solidFill>
                  <a:srgbClr val="262B30"/>
                </a:solidFill>
                <a:latin typeface="Calibri"/>
              </a:rPr>
              <a:t>Uma previsão verificada contra a realidade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300" b="0" i="0">
                <a:solidFill>
                  <a:srgbClr val="262B30"/>
                </a:solidFill>
                <a:latin typeface="Calibri"/>
              </a:rPr>
              <a:t>       </a:t>
            </a:r>
            <a:r>
              <a:rPr sz="1350" b="0" i="0">
                <a:solidFill>
                  <a:srgbClr val="5A646E"/>
                </a:solidFill>
                <a:latin typeface="Calibri"/>
              </a:rPr>
              <a:t>não apenas prometida — 4 de 4 rebaixados entre os 7 maiores riscos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72B2"/>
                </a:solidFill>
                <a:latin typeface="Calibri"/>
              </a:rPr>
              <a:t>Considerações finais: limites e próximos passos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BFD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Previsão de rebaixamento — Brasileirão Série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4607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21/23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32927" y="38404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D55E00"/>
                </a:solidFill>
                <a:latin typeface="Calibri"/>
              </a:rPr>
              <a:t>CONSIDERAÇÕES FINAIS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52704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D55E00"/>
                </a:solidFill>
                <a:latin typeface="Calibri"/>
              </a:rPr>
              <a:t>Limitações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048256"/>
            <a:ext cx="49377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D55E0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62B30"/>
                </a:solidFill>
                <a:latin typeface="Calibri"/>
              </a:rPr>
              <a:t>só dados pré-temporada: não capta lesão, troca de técnico, calendário</a:t>
            </a:r>
          </a:p>
          <a:p>
            <a:pPr algn="l">
              <a:lnSpc>
                <a:spcPct val="120000"/>
              </a:lnSpc>
              <a:spcBef>
                <a:spcPts val="1100"/>
              </a:spcBef>
            </a:pPr>
            <a:r>
              <a:rPr sz="1500" b="1" i="0">
                <a:solidFill>
                  <a:srgbClr val="D55E0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62B30"/>
                </a:solidFill>
                <a:latin typeface="Calibri"/>
              </a:rPr>
              <a:t>~220 observações — amostra pequena aumenta a variância</a:t>
            </a:r>
          </a:p>
          <a:p>
            <a:pPr algn="l">
              <a:lnSpc>
                <a:spcPct val="120000"/>
              </a:lnSpc>
              <a:spcBef>
                <a:spcPts val="1100"/>
              </a:spcBef>
            </a:pPr>
            <a:r>
              <a:rPr sz="1500" b="1" i="0">
                <a:solidFill>
                  <a:srgbClr val="D55E0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62B30"/>
                </a:solidFill>
                <a:latin typeface="Calibri"/>
              </a:rPr>
              <a:t>recém-promovidos dependem da imputação, como o Mirassol mostrou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9128" y="1527048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072B2"/>
                </a:solidFill>
                <a:latin typeface="Calibri"/>
              </a:rPr>
              <a:t>Trabalhos futuros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2048256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62B30"/>
                </a:solidFill>
                <a:latin typeface="Calibri"/>
              </a:rPr>
              <a:t>retreino </a:t>
            </a:r>
            <a:r>
              <a:rPr sz="1500" b="1" i="0">
                <a:solidFill>
                  <a:srgbClr val="262B30"/>
                </a:solidFill>
                <a:latin typeface="Calibri"/>
              </a:rPr>
              <a:t>durante</a:t>
            </a:r>
            <a:r>
              <a:rPr sz="1500" b="0" i="0">
                <a:solidFill>
                  <a:srgbClr val="262B30"/>
                </a:solidFill>
                <a:latin typeface="Calibri"/>
              </a:rPr>
              <a:t> a temporada</a:t>
            </a:r>
          </a:p>
          <a:p>
            <a:pPr algn="l">
              <a:lnSpc>
                <a:spcPct val="120000"/>
              </a:lnSpc>
              <a:spcBef>
                <a:spcPts val="1100"/>
              </a:spcBef>
            </a:pPr>
            <a:r>
              <a:rPr sz="150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62B30"/>
                </a:solidFill>
                <a:latin typeface="Calibri"/>
              </a:rPr>
              <a:t>features do mercado de transferências</a:t>
            </a:r>
          </a:p>
          <a:p>
            <a:pPr algn="l">
              <a:lnSpc>
                <a:spcPct val="120000"/>
              </a:lnSpc>
              <a:spcBef>
                <a:spcPts val="1100"/>
              </a:spcBef>
            </a:pPr>
            <a:r>
              <a:rPr sz="150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62B30"/>
                </a:solidFill>
                <a:latin typeface="Calibri"/>
              </a:rPr>
              <a:t>modelos sequenciais, com mais temporadas</a:t>
            </a:r>
          </a:p>
          <a:p>
            <a:pPr algn="l">
              <a:lnSpc>
                <a:spcPct val="120000"/>
              </a:lnSpc>
              <a:spcBef>
                <a:spcPts val="1100"/>
              </a:spcBef>
            </a:pPr>
            <a:r>
              <a:rPr sz="1500" b="1" i="0">
                <a:solidFill>
                  <a:srgbClr val="0072B2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62B30"/>
                </a:solidFill>
                <a:latin typeface="Calibri"/>
              </a:rPr>
              <a:t>expansão para a Série B e outras ligas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5394960"/>
            <a:ext cx="105091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A646E"/>
                </a:solidFill>
                <a:latin typeface="Calibri"/>
              </a:rPr>
              <a:t>Análise de sensibilidade: imputação por média em vez de mediana → AUC 0,828 (idêntico); janelas de 2 e 4 temporadas → 0,836. As decisões de projeto são robustas.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72B2"/>
                </a:solidFill>
                <a:latin typeface="Calibri"/>
              </a:rPr>
              <a:t>Conclusão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BFD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Previsão de rebaixamento — Brasileirão Série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4607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46E"/>
                </a:solidFill>
                <a:latin typeface="Calibri"/>
              </a:rPr>
              <a:t>22/23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32927" y="38404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D55E00"/>
                </a:solidFill>
                <a:latin typeface="Calibri"/>
              </a:rPr>
              <a:t>CONSIDERAÇÕES FINAIS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984248"/>
            <a:ext cx="941191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3100" b="1" i="0">
                <a:solidFill>
                  <a:srgbClr val="0072B2"/>
                </a:solidFill>
                <a:latin typeface="Calibri"/>
              </a:rPr>
              <a:t>O modelo previu antes.</a:t>
            </a:r>
          </a:p>
          <a:p>
            <a:pPr algn="ctr">
              <a:lnSpc>
                <a:spcPct val="118000"/>
              </a:lnSpc>
              <a:spcBef>
                <a:spcPts val="400"/>
              </a:spcBef>
            </a:pPr>
            <a:r>
              <a:rPr sz="3100" b="1" i="0">
                <a:solidFill>
                  <a:srgbClr val="0072B2"/>
                </a:solidFill>
                <a:latin typeface="Calibri"/>
              </a:rPr>
              <a:t>O campeonato confirmou a ordenação.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47088" y="3977639"/>
            <a:ext cx="8497519" cy="868680"/>
          </a:xfrm>
          <a:prstGeom prst="roundRect">
            <a:avLst>
              <a:gd name="adj" fmla="val 14000"/>
            </a:avLst>
          </a:prstGeom>
          <a:solidFill>
            <a:srgbClr val="F9E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D55E00"/>
                </a:solidFill>
                <a:latin typeface="Calibri"/>
              </a:rPr>
              <a:t>Agora, a ferramenta em funcionamento: demonstração do aplicativo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34924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5A646E"/>
                </a:solidFill>
                <a:latin typeface="Calibri"/>
              </a:rPr>
              <a:t>Código, dados e experimentos: github.com/leonardofeitos4/previsao-tcc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56616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A646E"/>
                </a:solidFill>
                <a:latin typeface="Calibri"/>
              </a:rPr>
              <a:t>Reserva — números de apoio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40233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A646E"/>
                </a:solidFill>
                <a:latin typeface="Calibri"/>
              </a:rPr>
              <a:t>(não apresentar)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548640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262B30"/>
                </a:solidFill>
                <a:latin typeface="Calibri"/>
              </a:rPr>
              <a:t>Walk-forward (médias)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250" b="0" i="0">
                <a:solidFill>
                  <a:srgbClr val="262B30"/>
                </a:solidFill>
                <a:latin typeface="Calibri"/>
              </a:rPr>
              <a:t>Reg. Logística 0,794 ± 0,058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250" b="0" i="0">
                <a:solidFill>
                  <a:srgbClr val="262B30"/>
                </a:solidFill>
                <a:latin typeface="Calibri"/>
              </a:rPr>
              <a:t>Random Forest 0,762 ± 0,071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250" b="0" i="0">
                <a:solidFill>
                  <a:srgbClr val="262B30"/>
                </a:solidFill>
                <a:latin typeface="Calibri"/>
              </a:rPr>
              <a:t>LightGBM 0,700 ± 0,151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250" b="0" i="0">
                <a:solidFill>
                  <a:srgbClr val="262B30"/>
                </a:solidFill>
                <a:latin typeface="Calibri"/>
              </a:rPr>
              <a:t>XGBoost 0,659 ± 0,085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600" b="0" i="0">
                <a:solidFill>
                  <a:srgbClr val="262B30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300" b="1" i="0">
                <a:solidFill>
                  <a:srgbClr val="262B30"/>
                </a:solidFill>
                <a:latin typeface="Calibri"/>
              </a:rPr>
              <a:t>Fold 2020 (pandemia)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250" b="0" i="0">
                <a:solidFill>
                  <a:srgbClr val="262B30"/>
                </a:solidFill>
                <a:latin typeface="Calibri"/>
              </a:rPr>
              <a:t>LightGBM 0,438 · XGBoost 0,531 · RL 0,703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600" b="0" i="0">
                <a:solidFill>
                  <a:srgbClr val="262B30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300" b="1" i="0">
                <a:solidFill>
                  <a:srgbClr val="262B30"/>
                </a:solidFill>
                <a:latin typeface="Calibri"/>
              </a:rPr>
              <a:t>Teste 2023–2024 (XGB e LGBM idênticos)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250" b="0" i="0">
                <a:solidFill>
                  <a:srgbClr val="262B30"/>
                </a:solidFill>
                <a:latin typeface="Calibri"/>
              </a:rPr>
              <a:t>3 acertos entre 8 rebaixados · 2 falsos positivos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250" b="0" i="0">
                <a:solidFill>
                  <a:srgbClr val="262B30"/>
                </a:solidFill>
                <a:latin typeface="Calibri"/>
              </a:rPr>
              <a:t>30 acertos de permanência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600" b="0" i="0">
                <a:solidFill>
                  <a:srgbClr val="262B30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300" b="1" i="0">
                <a:solidFill>
                  <a:srgbClr val="262B30"/>
                </a:solidFill>
                <a:latin typeface="Calibri"/>
              </a:rPr>
              <a:t>Calibração (quartil de maior risco)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250" b="0" i="0">
                <a:solidFill>
                  <a:srgbClr val="262B30"/>
                </a:solidFill>
                <a:latin typeface="Calibri"/>
              </a:rPr>
              <a:t>previsto 63,6% · observado 50,0%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93408" y="1234440"/>
            <a:ext cx="548640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262B30"/>
                </a:solidFill>
                <a:latin typeface="Calibri"/>
              </a:rPr>
              <a:t>Base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250" b="0" i="0">
                <a:solidFill>
                  <a:srgbClr val="262B30"/>
                </a:solidFill>
                <a:latin typeface="Calibri"/>
              </a:rPr>
              <a:t>220 obs. rotuladas · 20% de prevalência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250" b="0" i="0">
                <a:solidFill>
                  <a:srgbClr val="262B30"/>
                </a:solidFill>
                <a:latin typeface="Calibri"/>
              </a:rPr>
              <a:t>15,5% de ausentes nas janelas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250" b="0" i="0">
                <a:solidFill>
                  <a:srgbClr val="262B30"/>
                </a:solidFill>
                <a:latin typeface="Calibri"/>
              </a:rPr>
              <a:t>Elenco: média €55,3M · DP €38,5M · máx. €214,2M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600" b="0" i="0">
                <a:solidFill>
                  <a:srgbClr val="262B30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300" b="1" i="0">
                <a:solidFill>
                  <a:srgbClr val="262B30"/>
                </a:solidFill>
                <a:latin typeface="Calibri"/>
              </a:rPr>
              <a:t>Desbalanceamento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250" b="0" i="0">
                <a:solidFill>
                  <a:srgbClr val="262B30"/>
                </a:solidFill>
                <a:latin typeface="Calibri"/>
              </a:rPr>
              <a:t>class_weight='balanced' (RL, RF, LGBM)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250" b="0" i="0">
                <a:solidFill>
                  <a:srgbClr val="262B30"/>
                </a:solidFill>
                <a:latin typeface="Calibri"/>
              </a:rPr>
              <a:t>scale_pos_weight=4 (XGBoost)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600" b="0" i="0">
                <a:solidFill>
                  <a:srgbClr val="262B30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300" b="1" i="0">
                <a:solidFill>
                  <a:srgbClr val="262B30"/>
                </a:solidFill>
                <a:latin typeface="Calibri"/>
              </a:rPr>
              <a:t>Otimização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250" b="0" i="0">
                <a:solidFill>
                  <a:srgbClr val="262B30"/>
                </a:solidFill>
                <a:latin typeface="Calibri"/>
              </a:rPr>
              <a:t>RandomizedSearchCV, 30 candidatos,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250" b="0" i="0">
                <a:solidFill>
                  <a:srgbClr val="262B30"/>
                </a:solidFill>
                <a:latin typeface="Calibri"/>
              </a:rPr>
              <a:t>TimeSeriesSplit de 5 folds, critério AUC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600" b="0" i="0">
                <a:solidFill>
                  <a:srgbClr val="262B30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300" b="1" i="0">
                <a:solidFill>
                  <a:srgbClr val="262B30"/>
                </a:solidFill>
                <a:latin typeface="Calibri"/>
              </a:rPr>
              <a:t>Rebaixados de 2025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250" b="0" i="0">
                <a:solidFill>
                  <a:srgbClr val="262B30"/>
                </a:solidFill>
                <a:latin typeface="Calibri"/>
              </a:rPr>
              <a:t>Sport (20º) · Juventude (19º)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250" b="0" i="0">
                <a:solidFill>
                  <a:srgbClr val="262B30"/>
                </a:solidFill>
                <a:latin typeface="Calibri"/>
              </a:rPr>
              <a:t>Fortaleza (18º) · Ceará (17º)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